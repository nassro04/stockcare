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w Bold" charset="1" panose="00000800000000000000"/>
      <p:regular r:id="rId17"/>
    </p:embeddedFont>
    <p:embeddedFont>
      <p:font typeface="Now" charset="1" panose="00000500000000000000"/>
      <p:regular r:id="rId18"/>
    </p:embeddedFont>
    <p:embeddedFont>
      <p:font typeface="TT Fors" charset="1" panose="020B0003030001020000"/>
      <p:regular r:id="rId19"/>
    </p:embeddedFont>
    <p:embeddedFont>
      <p:font typeface="TT Fors Bold" charset="1" panose="020B000303000102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TT Fors Bold Italics" charset="1" panose="020B0003030001020000"/>
      <p:regular r:id="rId23"/>
    </p:embeddedFont>
    <p:embeddedFont>
      <p:font typeface="Poppins Italics" charset="1" panose="00000500000000000000"/>
      <p:regular r:id="rId24"/>
    </p:embeddedFont>
    <p:embeddedFont>
      <p:font typeface="TT Fors Italics" charset="1" panose="020B000303000102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84109"/>
            <a:ext cx="11067924" cy="162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40"/>
              </a:lnSpc>
            </a:pPr>
            <a:r>
              <a:rPr lang="en-US" sz="9206" b="true">
                <a:solidFill>
                  <a:srgbClr val="FBF9F3"/>
                </a:solidFill>
                <a:latin typeface="Now Bold"/>
                <a:ea typeface="Now Bold"/>
                <a:cs typeface="Now Bold"/>
                <a:sym typeface="Now Bold"/>
              </a:rPr>
              <a:t>STOCKCARE</a:t>
            </a:r>
          </a:p>
          <a:p>
            <a:pPr algn="l">
              <a:lnSpc>
                <a:spcPts val="16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512617" y="8232581"/>
            <a:ext cx="364939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3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Nassrellah Naji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85602" y="8232581"/>
            <a:ext cx="50332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3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Mme.Soumaya Ounacer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2617" y="7604658"/>
            <a:ext cx="364939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spc="317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Marwane Youlakou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91798"/>
            <a:ext cx="14337405" cy="124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9"/>
              </a:lnSpc>
            </a:pPr>
            <a:r>
              <a:rPr lang="en-US" b="true" sz="3999">
                <a:solidFill>
                  <a:srgbClr val="4B725F"/>
                </a:solidFill>
                <a:latin typeface="Now Bold"/>
                <a:ea typeface="Now Bold"/>
                <a:cs typeface="Now Bold"/>
                <a:sym typeface="Now Bold"/>
              </a:rPr>
              <a:t>Application de gestion de s</a:t>
            </a:r>
            <a:r>
              <a:rPr lang="en-US" b="true" sz="3999">
                <a:solidFill>
                  <a:srgbClr val="4B725F"/>
                </a:solidFill>
                <a:latin typeface="Now Bold"/>
                <a:ea typeface="Now Bold"/>
                <a:cs typeface="Now Bold"/>
                <a:sym typeface="Now Bold"/>
              </a:rPr>
              <a:t>TOCK PHARMACEUTIQUE HOSPITALIER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66105" y="-286744"/>
            <a:ext cx="3105222" cy="2630887"/>
          </a:xfrm>
          <a:custGeom>
            <a:avLst/>
            <a:gdLst/>
            <a:ahLst/>
            <a:cxnLst/>
            <a:rect r="r" b="b" t="t" l="l"/>
            <a:pathLst>
              <a:path h="2630887" w="3105222">
                <a:moveTo>
                  <a:pt x="0" y="0"/>
                </a:moveTo>
                <a:lnTo>
                  <a:pt x="3105222" y="0"/>
                </a:lnTo>
                <a:lnTo>
                  <a:pt x="3105222" y="2630888"/>
                </a:lnTo>
                <a:lnTo>
                  <a:pt x="0" y="263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02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54801"/>
            <a:ext cx="16230600" cy="585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DAN</a:t>
            </a: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 DE NOMBREUX HÔPITAUX, LA GESTION DES MÉDICAMENTS REPOSE ENCORE SUR DES OUTILS MANUELS COMME EXCEL OU DES REGISTRES PAPIER.</a:t>
            </a:r>
          </a:p>
          <a:p>
            <a:pPr algn="l">
              <a:lnSpc>
                <a:spcPts val="4241"/>
              </a:lnSpc>
            </a:pP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CELA ENTRAÎNE DES ERREURS DE SUIVI, DES RUPTURES DE STOCK IMPRÉVUES ET UNE MAUVAISE VISIBILITÉ SUR LES DATES DE PÉREMPTION.</a:t>
            </a:r>
          </a:p>
          <a:p>
            <a:pPr algn="l">
              <a:lnSpc>
                <a:spcPts val="4241"/>
              </a:lnSpc>
            </a:pPr>
          </a:p>
          <a:p>
            <a:pPr algn="l">
              <a:lnSpc>
                <a:spcPts val="4241"/>
              </a:lnSpc>
            </a:pP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STOCKCARE EST UNE APPLICATION WEB QUI PERMET DE GÉRER ET SUIVRE EN TEMPS RÉEL LES STOCKS PHARMACEUTIQUES D’UN ÉTABLISSEMENT HOSPITALIER, TOUT EN AUTOMATISANT LES ALERTES ET L’ANALYSE DE CONSOMMATION.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Contexte e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 IDÉE PRINCIPALE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854045"/>
          <a:ext cx="16230600" cy="6954042"/>
        </p:xfrm>
        <a:graphic>
          <a:graphicData uri="http://schemas.openxmlformats.org/drawingml/2006/table">
            <a:tbl>
              <a:tblPr/>
              <a:tblGrid>
                <a:gridCol w="7050080"/>
                <a:gridCol w="6937357"/>
                <a:gridCol w="2243162"/>
              </a:tblGrid>
              <a:tr h="8092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E4A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E4A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E4AE"/>
                    </a:solidFill>
                  </a:tcPr>
                </a:tc>
              </a:tr>
              <a:tr h="12082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Mettre en place un inventaire temps réel par établissement /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Écart stock théorique vs physique ≤ 2 % sur 1 mois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  <a:tr h="12082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Assurer la traçabilité par lot/série et DLU (FEFO : First Expired, First Out)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100 % des mouvements horodatés + utilisateur + 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  <a:tr h="10268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Détecter les alertes de rupture et péremption en amont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Notifications auto quand stock &lt; seuil ou DLU &lt; X jours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  <a:tr h="9004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Générer un tableau de bord de consommation mensuelle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Export PDF/CSV + filtre par famille / UF / lot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  <a:tr h="9004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Sécurité et conformité sans données patients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RBAC (pharmacien, magasinier, admin) + audit trail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  <a:tr h="9004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Garantir des performances minimales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300 ms pour 10 k articles / 100 k mouvements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FE3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2024296"/>
            <a:ext cx="16230600" cy="52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BJECTIFS </a:t>
            </a:r>
            <a:r>
              <a:rPr lang="en-US" sz="3029" spc="38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SMART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Objec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TIFS SPÉCIFIQUES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8658" y="2944604"/>
            <a:ext cx="1610956" cy="4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 spc="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1294" y="2944604"/>
            <a:ext cx="4350041" cy="4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 spc="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INDICATEUR DE SUCCÈS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67039" y="2944604"/>
            <a:ext cx="1827204" cy="4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 spc="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ÉCHÉANCE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3359526"/>
          <a:ext cx="9774497" cy="4607973"/>
        </p:xfrm>
        <a:graphic>
          <a:graphicData uri="http://schemas.openxmlformats.org/drawingml/2006/table">
            <a:tbl>
              <a:tblPr/>
              <a:tblGrid>
                <a:gridCol w="1853016"/>
                <a:gridCol w="4440823"/>
                <a:gridCol w="3480657"/>
              </a:tblGrid>
              <a:tr h="5628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4654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6682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732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957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4554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8278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44"/>
                        </a:lnSpc>
                        <a:defRPr/>
                      </a:pPr>
                      <a:endParaRPr lang="en-US" sz="1100"/>
                    </a:p>
                  </a:txBody>
                  <a:tcPr marL="141138" marR="141138" marT="141138" marB="141138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46781" y="2068203"/>
            <a:ext cx="1623060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3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DURÉ</a:t>
            </a:r>
            <a:r>
              <a:rPr lang="en-US" sz="2499" spc="3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TOTALE : 12 SEMAINES </a:t>
            </a:r>
          </a:p>
          <a:p>
            <a:pPr algn="l">
              <a:lnSpc>
                <a:spcPts val="3499"/>
              </a:lnSpc>
            </a:pPr>
            <a:r>
              <a:rPr lang="en-US" sz="2499" spc="3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DE LA PHASE D’ANALYSE JUSQU’À LA</a:t>
            </a:r>
            <a:r>
              <a:rPr lang="en-US" sz="2499" spc="317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SOUTENANCE.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Diagramme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DE GANTT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12" y="3464152"/>
            <a:ext cx="1080452" cy="40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 spc="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07978" y="3464152"/>
            <a:ext cx="1856703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SEMAINES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4391" y="3464152"/>
            <a:ext cx="2812738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LIVRABLES CLÉS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2112" y="4178027"/>
            <a:ext cx="1080452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2112" y="5095190"/>
            <a:ext cx="1080452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S2-S3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2112" y="6012353"/>
            <a:ext cx="1080452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S4-S6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7978" y="4178027"/>
            <a:ext cx="355382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Kickoff &amp; cadrage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0567" y="4230174"/>
            <a:ext cx="6097210" cy="35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Vision, objectifs, outils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07905" y="4851127"/>
            <a:ext cx="5577834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Analyse de l’éxistant, recueil des besoins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14391" y="5039899"/>
            <a:ext cx="4045128" cy="35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Cahier des charges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0528" y="5775925"/>
            <a:ext cx="573258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Spécifications, modélisation (MCD/MLD), archi, maquettes UI/UX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4391" y="5964698"/>
            <a:ext cx="4045128" cy="35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Dossier technique validé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2112" y="6929676"/>
            <a:ext cx="1080452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S7-S9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07905" y="6896700"/>
            <a:ext cx="573258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Développement backend + frontend, alertes, FEFO, graphiques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4391" y="8018296"/>
            <a:ext cx="485716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Version bêta fonctionnelle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2112" y="8018296"/>
            <a:ext cx="1428390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S10-S11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63112" y="8027821"/>
            <a:ext cx="5777455" cy="35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Intégration, tests, sécurité, audit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14391" y="6940828"/>
            <a:ext cx="509604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Version stable prête</a:t>
            </a:r>
          </a:p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pour recette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07978" y="8694851"/>
            <a:ext cx="4293294" cy="69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5"/>
              </a:lnSpc>
            </a:pPr>
            <a:r>
              <a:rPr lang="en-US" sz="1989" spc="25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Documentation, packaging, soutenance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62112" y="8853448"/>
            <a:ext cx="1428390" cy="40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b="true" sz="2244" spc="2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S12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14391" y="8871724"/>
            <a:ext cx="4857167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Rapport final + démo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47758" y="4674725"/>
            <a:ext cx="2765276" cy="360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JALONS</a:t>
            </a: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CLÉS :</a:t>
            </a:r>
          </a:p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📍 </a:t>
            </a:r>
            <a:r>
              <a:rPr lang="en-US" b="true" sz="2041" spc="25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S6</a:t>
            </a: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: </a:t>
            </a:r>
          </a:p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VALIDATION DE L’ARCHITECTURE</a:t>
            </a:r>
          </a:p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📍 </a:t>
            </a:r>
            <a:r>
              <a:rPr lang="en-US" b="true" sz="2041" spc="25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S9</a:t>
            </a: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: </a:t>
            </a:r>
          </a:p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PROTOTYPE OPÉRATIONNEL</a:t>
            </a:r>
          </a:p>
          <a:p>
            <a:pPr algn="l">
              <a:lnSpc>
                <a:spcPts val="2857"/>
              </a:lnSpc>
            </a:pP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📍 </a:t>
            </a:r>
            <a:r>
              <a:rPr lang="en-US" b="true" sz="2041" spc="25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S12</a:t>
            </a: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:</a:t>
            </a:r>
            <a:r>
              <a:rPr lang="en-US" sz="2041" spc="25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SOUTENANCE FINALE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597785"/>
            <a:ext cx="16230600" cy="666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152774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BACK</a:t>
            </a:r>
            <a:r>
              <a:rPr lang="en-US" b="true" sz="2900" i="true" spc="368">
                <a:solidFill>
                  <a:srgbClr val="152774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END (API)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NESTJS (NODE.JS) → STRUCTURE MODULAIRE, GUARDS RBAC, VALIDATION DTO.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ALTERNATIVE : DJANGO REST FRAMEWORK (ADMIN NATIF, ORM ROBUSTE).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BASE DE DONNÉES : POSTGRESQL → CONTRAINTES, INDEX, VUES MATÉRIALISÉES.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CACHE / JOBS : REDIS → FILES D’ALERTES,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CACHE DES LISTES.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NOTIFICATIONS : SMTP (EMAIL) + WEBHOOKS INTERNES (SLACK / DISCORD).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AUTH &amp; SÉCURITÉ : JWT, RBAC, AUDIT TRAIL (TABLE AUDIT_LOG), RATE LIMITING.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TESTS : JEST / PYTEST + SUPERTEST.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nolog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IES UTILISÉES 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32480"/>
            <a:ext cx="16230600" cy="357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FF914D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FRONT</a:t>
            </a:r>
            <a:r>
              <a:rPr lang="en-US" b="true" sz="2900" i="true" spc="368">
                <a:solidFill>
                  <a:srgbClr val="FF914D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END (WEB)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REACT + VITE (OU NEXT.JS) → PERFORMANCE, MODULARITÉ.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CHART.JS → VISUALISATION CONSOMMATION MENSUELLE.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TAILWIND CSS / CHAKRA UI → DESIGN RAPIDE ET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COHÉRENT.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SCANNER CAMÉRA : MEDIADEVICES API + ZXING.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I18N : FRANÇAIS / ANGLAIS.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nolog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IES UTILISÉES :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89655"/>
            <a:ext cx="16230600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BF63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D</a:t>
            </a:r>
            <a:r>
              <a:rPr lang="en-US" b="true" sz="2900" i="true" spc="368">
                <a:solidFill>
                  <a:srgbClr val="00BF63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EVOPS &amp; QUALITÉ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DOCKER + DOCKER-COMPOSE (API, FRONT, DB, REDIS).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CI/CD GITHUB ACTIONS → LINT, TESTS, BUILD.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MONITORING (PROMETHEUS / GRAFANA) OU ENDP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OINT SANTÉ SIMPLE.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DÉPLOIEMENT : ON-PREM (VM HÔPITAL) OU CLOUD PRIVÉ SÉCURISÉ.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Tech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nolog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IES UTILISÉES :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89655"/>
            <a:ext cx="16230600" cy="306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CONT</a:t>
            </a: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EXTE FONCTIONNEL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b="true" sz="2900" spc="368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• ENTRÉES : RÉCEPTIONS, COMMANDES, RETOURS, INVENTAIRES.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SORTIES : DÉLIVRANCES, REBUTS (PÉRIMÉS), TRANSFERTS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NTRA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: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FEFO, L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TS/SÉ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S,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DLU,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SEU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IL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MINI/MAXI,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LTI-MAGAS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NS,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JO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UR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NAL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ATION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nalyse d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 L’EXISTANT :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61476"/>
            <a:ext cx="1623060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ACTEURS &amp; RÔLES (RBAC)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3610986"/>
          <a:ext cx="13675778" cy="5647314"/>
        </p:xfrm>
        <a:graphic>
          <a:graphicData uri="http://schemas.openxmlformats.org/drawingml/2006/table">
            <a:tbl>
              <a:tblPr/>
              <a:tblGrid>
                <a:gridCol w="3781591"/>
                <a:gridCol w="9894187"/>
              </a:tblGrid>
              <a:tr h="1129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1129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070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88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  <a:tr h="1129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nalyse d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 L’EXISTANT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69363" y="3847502"/>
            <a:ext cx="1147426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RÔLE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99625" y="3847502"/>
            <a:ext cx="4800188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ACTIONS P</a:t>
            </a:r>
            <a:r>
              <a:rPr lang="en-US" sz="2900" i="true" spc="368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RINCIPALES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792" y="5076825"/>
            <a:ext cx="295000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Pha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rmacien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792" y="6041390"/>
            <a:ext cx="295000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Mag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asinier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792" y="7263130"/>
            <a:ext cx="295000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Adm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in 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792" y="8484870"/>
            <a:ext cx="2950005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Aud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iteur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11976" y="5076825"/>
            <a:ext cx="108240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Valider, pa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ramétrer seuils, rapports, clôture mensuelle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9625" y="6217156"/>
            <a:ext cx="108240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Récep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tions, sorties, transferts, inventaires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99625" y="7401336"/>
            <a:ext cx="108240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Gérer u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tilisateurs, sauvegardes, monitoring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99625" y="8585517"/>
            <a:ext cx="108240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Lec</a:t>
            </a:r>
            <a:r>
              <a:rPr lang="en-US" sz="2000" i="true" spc="254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ture seule, export journaux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61476"/>
            <a:ext cx="17259300" cy="717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DOUL</a:t>
            </a: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EURS ACTUELLES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• MÉDICAMENTS PÉRIMÉS NON DÉTECTÉS À TEMPS → GASPILLAGE.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ABSENCE DE VISION MULTI-SITES 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 TE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MPS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É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FAIBLE TRA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ÇAB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ILITÉ (AUCUN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J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OURNAL “QUI, QUAND, QU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I”).</a:t>
            </a:r>
          </a:p>
          <a:p>
            <a:pPr algn="l">
              <a:lnSpc>
                <a:spcPts val="4060"/>
              </a:lnSpc>
            </a:pP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• PAS D’A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LERTES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AUT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TIQUE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 DE REPORTIN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 INTÉGRÉ</a:t>
            </a:r>
            <a:r>
              <a:rPr lang="en-US" sz="2900" spc="368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b="true" sz="2900" i="true" spc="368">
                <a:solidFill>
                  <a:srgbClr val="000000"/>
                </a:solidFill>
                <a:latin typeface="TT Fors Bold Italics"/>
                <a:ea typeface="TT Fors Bold Italics"/>
                <a:cs typeface="TT Fors Bold Italics"/>
                <a:sym typeface="TT Fors Bold Italics"/>
              </a:rPr>
              <a:t>OPPORTUNITÉS APPORTÉES PAR STOCKCARE)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• ALERTES ANTICIPÉES (RUPTURE / PÉREMPTION).</a:t>
            </a:r>
          </a:p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 • TABLEAUX DE BORD MENSUELS AUTOMATIQUES.</a:t>
            </a:r>
          </a:p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 • 0 DONNÉE PATIENT → CONFORMITÉ SIMPLIFIÉE.</a:t>
            </a:r>
          </a:p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 • CODES-BARRES DATAMATRIX (GS1) POUR FIABILISER LES FLUX.</a:t>
            </a:r>
          </a:p>
          <a:p>
            <a:pPr algn="l">
              <a:lnSpc>
                <a:spcPts val="4060"/>
              </a:lnSpc>
            </a:pPr>
            <a:r>
              <a:rPr lang="en-US" sz="2900" i="true" spc="368">
                <a:solidFill>
                  <a:srgbClr val="000000"/>
                </a:solidFill>
                <a:latin typeface="TT Fors Italics"/>
                <a:ea typeface="TT Fors Italics"/>
                <a:cs typeface="TT Fors Italics"/>
                <a:sym typeface="TT Fors Italics"/>
              </a:rPr>
              <a:t> • JOURNAL D’AUDIT COMPLET (UTILISATEUR, POSTE, ACTION, LOT, TIMESTAMP).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1466656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</a:t>
            </a:r>
            <a:r>
              <a:rPr lang="en-US" sz="5000" b="true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nalyse d</a:t>
            </a:r>
            <a:r>
              <a:rPr lang="en-US" b="true" sz="5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 L’EXISTANT :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86744"/>
            <a:ext cx="3105222" cy="2630887"/>
          </a:xfrm>
          <a:custGeom>
            <a:avLst/>
            <a:gdLst/>
            <a:ahLst/>
            <a:cxnLst/>
            <a:rect r="r" b="b" t="t" l="l"/>
            <a:pathLst>
              <a:path h="2630887" w="3105222">
                <a:moveTo>
                  <a:pt x="0" y="0"/>
                </a:moveTo>
                <a:lnTo>
                  <a:pt x="3105222" y="0"/>
                </a:lnTo>
                <a:lnTo>
                  <a:pt x="3105222" y="2630888"/>
                </a:lnTo>
                <a:lnTo>
                  <a:pt x="0" y="2630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0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028644" y="8826500"/>
            <a:ext cx="42306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8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Nassrellah Naji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49877" y="8826500"/>
            <a:ext cx="49787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8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Marwane Youlakou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9877" y="8073706"/>
            <a:ext cx="364939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8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Réalisé par: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DAG4bg59-LY</dc:identifier>
  <dcterms:modified xsi:type="dcterms:W3CDTF">2011-08-01T06:04:30Z</dcterms:modified>
  <cp:revision>1</cp:revision>
  <dc:title>PFA LUNDI MARDI</dc:title>
</cp:coreProperties>
</file>